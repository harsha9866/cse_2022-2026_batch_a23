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78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 name="Holder 2"/>
          <p:cNvSpPr>
            <a:spLocks noGrp="1"/>
          </p:cNvSpPr>
          <p:nvPr>
            <p:ph type="title"/>
          </p:nvPr>
        </p:nvSpPr>
        <p:spPr>
          <a:xfrm>
            <a:off x="73025" y="182323"/>
            <a:ext cx="473900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36899" y="1074318"/>
            <a:ext cx="11346815" cy="313753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49031" y="6629427"/>
            <a:ext cx="63500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a:xfrm>
            <a:off x="1773949" y="6629558"/>
            <a:ext cx="366141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a:xfrm>
            <a:off x="11793245" y="6629427"/>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hyperlink" Target="https://github.com/Harsha9866/CSE_2022-2026_BATCH_A2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40" y="6634440"/>
            <a:ext cx="11414760" cy="223520"/>
            <a:chOff x="777240" y="6634440"/>
            <a:chExt cx="11414760" cy="223520"/>
          </a:xfrm>
        </p:grpSpPr>
        <p:sp>
          <p:nvSpPr>
            <p:cNvPr id="3" name="object 3"/>
            <p:cNvSpPr/>
            <p:nvPr/>
          </p:nvSpPr>
          <p:spPr>
            <a:xfrm>
              <a:off x="777240" y="6634440"/>
              <a:ext cx="5781675"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endParaRPr/>
            </a:p>
          </p:txBody>
        </p:sp>
        <p:sp>
          <p:nvSpPr>
            <p:cNvPr id="4" name="object 4"/>
            <p:cNvSpPr/>
            <p:nvPr/>
          </p:nvSpPr>
          <p:spPr>
            <a:xfrm>
              <a:off x="6559199" y="6634440"/>
              <a:ext cx="5194935" cy="220979"/>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endParaRPr/>
            </a:p>
          </p:txBody>
        </p:sp>
        <p:sp>
          <p:nvSpPr>
            <p:cNvPr id="5" name="object 5"/>
            <p:cNvSpPr/>
            <p:nvPr/>
          </p:nvSpPr>
          <p:spPr>
            <a:xfrm>
              <a:off x="11754359" y="6636960"/>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endParaRPr/>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7" name="object 7"/>
          <p:cNvSpPr/>
          <p:nvPr/>
        </p:nvSpPr>
        <p:spPr>
          <a:xfrm>
            <a:off x="0" y="6634440"/>
            <a:ext cx="777240" cy="221615"/>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endParaRPr/>
          </a:p>
        </p:txBody>
      </p:sp>
      <p:sp>
        <p:nvSpPr>
          <p:cNvPr id="8" name="object 8"/>
          <p:cNvSpPr txBox="1"/>
          <p:nvPr/>
        </p:nvSpPr>
        <p:spPr>
          <a:xfrm>
            <a:off x="5178432" y="1694053"/>
            <a:ext cx="3124200" cy="415627"/>
          </a:xfrm>
          <a:prstGeom prst="rect">
            <a:avLst/>
          </a:prstGeom>
        </p:spPr>
        <p:txBody>
          <a:bodyPr vert="horz" wrap="square" lIns="0" tIns="13335" rIns="0" bIns="0" rtlCol="0">
            <a:spAutoFit/>
          </a:bodyPr>
          <a:lstStyle/>
          <a:p>
            <a:pPr algn="ctr">
              <a:lnSpc>
                <a:spcPts val="2080"/>
              </a:lnSpc>
              <a:spcBef>
                <a:spcPts val="105"/>
              </a:spcBef>
            </a:pPr>
            <a:r>
              <a:rPr lang="en-US" sz="2000" dirty="0">
                <a:latin typeface="Times New Roman"/>
                <a:cs typeface="Times New Roman"/>
              </a:rPr>
              <a:t>M.NAGA SAI NAVYA</a:t>
            </a:r>
            <a:endParaRPr sz="2000" dirty="0">
              <a:latin typeface="Times New Roman"/>
              <a:cs typeface="Times New Roman"/>
            </a:endParaRPr>
          </a:p>
          <a:p>
            <a:pPr marL="635" algn="ctr">
              <a:lnSpc>
                <a:spcPts val="1060"/>
              </a:lnSpc>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sz="900" spc="-10" dirty="0">
                <a:latin typeface="Times New Roman"/>
                <a:cs typeface="Times New Roman"/>
              </a:rPr>
              <a:t>2</a:t>
            </a:r>
            <a:r>
              <a:rPr lang="en-US" sz="900" spc="-10" dirty="0">
                <a:latin typeface="Times New Roman"/>
                <a:cs typeface="Times New Roman"/>
              </a:rPr>
              <a:t>2</a:t>
            </a:r>
            <a:r>
              <a:rPr sz="900" spc="-10" dirty="0">
                <a:latin typeface="Times New Roman"/>
                <a:cs typeface="Times New Roman"/>
              </a:rPr>
              <a:t>4G1A05</a:t>
            </a:r>
            <a:r>
              <a:rPr lang="en-US" sz="900" spc="-10" dirty="0">
                <a:latin typeface="Times New Roman"/>
                <a:cs typeface="Times New Roman"/>
              </a:rPr>
              <a:t>55</a:t>
            </a:r>
            <a:endParaRPr sz="900" dirty="0">
              <a:latin typeface="Times New Roman"/>
              <a:cs typeface="Times New Roman"/>
            </a:endParaRPr>
          </a:p>
        </p:txBody>
      </p:sp>
      <p:sp>
        <p:nvSpPr>
          <p:cNvPr id="9" name="object 9"/>
          <p:cNvSpPr txBox="1"/>
          <p:nvPr/>
        </p:nvSpPr>
        <p:spPr>
          <a:xfrm>
            <a:off x="3883032" y="2509311"/>
            <a:ext cx="4419600" cy="908069"/>
          </a:xfrm>
          <a:prstGeom prst="rect">
            <a:avLst/>
          </a:prstGeom>
        </p:spPr>
        <p:txBody>
          <a:bodyPr vert="horz" wrap="square" lIns="0" tIns="12700" rIns="0" bIns="0" rtlCol="0">
            <a:spAutoFit/>
          </a:bodyPr>
          <a:lstStyle/>
          <a:p>
            <a:pPr marL="635" algn="ctr">
              <a:lnSpc>
                <a:spcPts val="1630"/>
              </a:lnSpc>
              <a:spcBef>
                <a:spcPts val="100"/>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sz="1400" i="1" spc="-35" dirty="0">
                <a:latin typeface="Times New Roman"/>
                <a:cs typeface="Times New Roman"/>
              </a:rPr>
              <a:t> </a:t>
            </a:r>
            <a:r>
              <a:rPr sz="1400" i="1" spc="-25" dirty="0">
                <a:latin typeface="Times New Roman"/>
                <a:cs typeface="Times New Roman"/>
              </a:rPr>
              <a:t>of</a:t>
            </a:r>
            <a:endParaRPr sz="1400" dirty="0">
              <a:latin typeface="Times New Roman"/>
              <a:cs typeface="Times New Roman"/>
            </a:endParaRPr>
          </a:p>
          <a:p>
            <a:pPr marL="12065" marR="5080" algn="ctr">
              <a:lnSpc>
                <a:spcPts val="2790"/>
              </a:lnSpc>
              <a:spcBef>
                <a:spcPts val="114"/>
              </a:spcBef>
            </a:pPr>
            <a:r>
              <a:rPr lang="en-US" sz="2400" spc="-20" dirty="0">
                <a:latin typeface="Times New Roman"/>
                <a:cs typeface="Times New Roman"/>
              </a:rPr>
              <a:t>Mr. K. Lokeshnath, </a:t>
            </a:r>
            <a:r>
              <a:rPr lang="en-US" sz="2400" spc="-10" dirty="0">
                <a:latin typeface="Times New Roman"/>
                <a:cs typeface="Times New Roman"/>
              </a:rPr>
              <a:t>M.Tech, (Ph.D)</a:t>
            </a:r>
          </a:p>
          <a:p>
            <a:pPr marL="12065" marR="5080" algn="ctr">
              <a:lnSpc>
                <a:spcPts val="2790"/>
              </a:lnSpc>
              <a:spcBef>
                <a:spcPts val="114"/>
              </a:spcBef>
            </a:pPr>
            <a:r>
              <a:rPr lang="en-US" sz="1400" spc="-10" dirty="0">
                <a:latin typeface="Times New Roman"/>
                <a:cs typeface="Times New Roman"/>
              </a:rPr>
              <a:t>Assistant professor</a:t>
            </a:r>
            <a:endParaRPr sz="1400" dirty="0">
              <a:latin typeface="Times New Roman"/>
              <a:cs typeface="Times New Roman"/>
            </a:endParaRPr>
          </a:p>
        </p:txBody>
      </p:sp>
      <p:sp>
        <p:nvSpPr>
          <p:cNvPr id="10" name="object 10"/>
          <p:cNvSpPr txBox="1"/>
          <p:nvPr/>
        </p:nvSpPr>
        <p:spPr>
          <a:xfrm>
            <a:off x="2147578" y="5096081"/>
            <a:ext cx="7890509" cy="1448435"/>
          </a:xfrm>
          <a:prstGeom prst="rect">
            <a:avLst/>
          </a:prstGeom>
        </p:spPr>
        <p:txBody>
          <a:bodyPr vert="horz" wrap="square" lIns="0" tIns="13335" rIns="0" bIns="0" rtlCol="0">
            <a:spAutoFit/>
          </a:bodyPr>
          <a:lstStyle/>
          <a:p>
            <a:pPr marL="4445" algn="ctr">
              <a:lnSpc>
                <a:spcPts val="2300"/>
              </a:lnSpc>
              <a:spcBef>
                <a:spcPts val="105"/>
              </a:spcBef>
            </a:pPr>
            <a:r>
              <a:rPr sz="2200" dirty="0">
                <a:latin typeface="Times New Roman"/>
                <a:cs typeface="Times New Roman"/>
              </a:rPr>
              <a:t>Department</a:t>
            </a:r>
            <a:r>
              <a:rPr sz="2200" spc="-2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Computer</a:t>
            </a:r>
            <a:r>
              <a:rPr sz="2200" spc="-15" dirty="0">
                <a:latin typeface="Times New Roman"/>
                <a:cs typeface="Times New Roman"/>
              </a:rPr>
              <a:t> </a:t>
            </a:r>
            <a:r>
              <a:rPr sz="2200" dirty="0">
                <a:latin typeface="Times New Roman"/>
                <a:cs typeface="Times New Roman"/>
              </a:rPr>
              <a:t>Science</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Engineering</a:t>
            </a:r>
          </a:p>
          <a:p>
            <a:pPr algn="ctr">
              <a:lnSpc>
                <a:spcPts val="3565"/>
              </a:lnSpc>
            </a:pPr>
            <a:r>
              <a:rPr sz="3400" dirty="0">
                <a:solidFill>
                  <a:srgbClr val="FF0000"/>
                </a:solidFill>
                <a:latin typeface="Times New Roman"/>
                <a:cs typeface="Times New Roman"/>
              </a:rPr>
              <a:t>Srinivasa</a:t>
            </a:r>
            <a:r>
              <a:rPr sz="3400" spc="-20" dirty="0">
                <a:solidFill>
                  <a:srgbClr val="FF0000"/>
                </a:solidFill>
                <a:latin typeface="Times New Roman"/>
                <a:cs typeface="Times New Roman"/>
              </a:rPr>
              <a:t> </a:t>
            </a:r>
            <a:r>
              <a:rPr sz="3400" dirty="0">
                <a:solidFill>
                  <a:srgbClr val="FF0000"/>
                </a:solidFill>
                <a:latin typeface="Times New Roman"/>
                <a:cs typeface="Times New Roman"/>
              </a:rPr>
              <a:t>Ramanujan</a:t>
            </a:r>
            <a:r>
              <a:rPr sz="3400" spc="-20" dirty="0">
                <a:solidFill>
                  <a:srgbClr val="FF0000"/>
                </a:solidFill>
                <a:latin typeface="Times New Roman"/>
                <a:cs typeface="Times New Roman"/>
              </a:rPr>
              <a:t> </a:t>
            </a:r>
            <a:r>
              <a:rPr sz="3400" dirty="0">
                <a:solidFill>
                  <a:srgbClr val="FF0000"/>
                </a:solidFill>
                <a:latin typeface="Times New Roman"/>
                <a:cs typeface="Times New Roman"/>
              </a:rPr>
              <a:t>Institute</a:t>
            </a:r>
            <a:r>
              <a:rPr sz="3400" spc="-20" dirty="0">
                <a:solidFill>
                  <a:srgbClr val="FF0000"/>
                </a:solidFill>
                <a:latin typeface="Times New Roman"/>
                <a:cs typeface="Times New Roman"/>
              </a:rPr>
              <a:t> </a:t>
            </a:r>
            <a:r>
              <a:rPr sz="3400" dirty="0">
                <a:solidFill>
                  <a:srgbClr val="FF0000"/>
                </a:solidFill>
                <a:latin typeface="Times New Roman"/>
                <a:cs typeface="Times New Roman"/>
              </a:rPr>
              <a:t>of</a:t>
            </a:r>
            <a:r>
              <a:rPr sz="3400" spc="-20" dirty="0">
                <a:solidFill>
                  <a:srgbClr val="FF0000"/>
                </a:solidFill>
                <a:latin typeface="Times New Roman"/>
                <a:cs typeface="Times New Roman"/>
              </a:rPr>
              <a:t> </a:t>
            </a:r>
            <a:r>
              <a:rPr sz="3400" spc="-10" dirty="0">
                <a:solidFill>
                  <a:srgbClr val="FF0000"/>
                </a:solidFill>
                <a:latin typeface="Times New Roman"/>
                <a:cs typeface="Times New Roman"/>
              </a:rPr>
              <a:t>Technology</a:t>
            </a:r>
            <a:endParaRPr sz="3400" dirty="0">
              <a:latin typeface="Times New Roman"/>
              <a:cs typeface="Times New Roman"/>
            </a:endParaRPr>
          </a:p>
          <a:p>
            <a:pPr marL="6350" algn="ctr">
              <a:lnSpc>
                <a:spcPts val="1850"/>
              </a:lnSpc>
            </a:pPr>
            <a:r>
              <a:rPr sz="1750" b="1" spc="-10" dirty="0">
                <a:latin typeface="Times New Roman"/>
                <a:cs typeface="Times New Roman"/>
              </a:rPr>
              <a:t>Autonomous</a:t>
            </a:r>
            <a:endParaRPr sz="1750" dirty="0">
              <a:latin typeface="Times New Roman"/>
              <a:cs typeface="Times New Roman"/>
            </a:endParaRPr>
          </a:p>
          <a:p>
            <a:pPr marL="7620" algn="ctr">
              <a:lnSpc>
                <a:spcPts val="1370"/>
              </a:lnSpc>
            </a:pPr>
            <a:r>
              <a:rPr sz="1200" b="1" dirty="0">
                <a:latin typeface="Times New Roman"/>
                <a:cs typeface="Times New Roman"/>
              </a:rPr>
              <a:t>Rotarypuram</a:t>
            </a:r>
            <a:r>
              <a:rPr sz="1200" b="1" spc="-10" dirty="0">
                <a:latin typeface="Times New Roman"/>
                <a:cs typeface="Times New Roman"/>
              </a:rPr>
              <a:t> </a:t>
            </a:r>
            <a:r>
              <a:rPr sz="1200" b="1" dirty="0">
                <a:latin typeface="Times New Roman"/>
                <a:cs typeface="Times New Roman"/>
              </a:rPr>
              <a:t>Village,</a:t>
            </a:r>
            <a:r>
              <a:rPr sz="1200" b="1" spc="-5"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K</a:t>
            </a:r>
            <a:r>
              <a:rPr sz="1200" b="1" spc="-5" dirty="0">
                <a:latin typeface="Times New Roman"/>
                <a:cs typeface="Times New Roman"/>
              </a:rPr>
              <a:t> </a:t>
            </a:r>
            <a:r>
              <a:rPr sz="1200" b="1" dirty="0">
                <a:latin typeface="Times New Roman"/>
                <a:cs typeface="Times New Roman"/>
              </a:rPr>
              <a:t>Samudram</a:t>
            </a:r>
            <a:r>
              <a:rPr sz="1200" b="1" spc="-10" dirty="0">
                <a:latin typeface="Times New Roman"/>
                <a:cs typeface="Times New Roman"/>
              </a:rPr>
              <a:t> </a:t>
            </a:r>
            <a:r>
              <a:rPr sz="1200" b="1" dirty="0">
                <a:latin typeface="Times New Roman"/>
                <a:cs typeface="Times New Roman"/>
              </a:rPr>
              <a:t>Mandal,</a:t>
            </a:r>
            <a:r>
              <a:rPr sz="1200" b="1" spc="-5" dirty="0">
                <a:latin typeface="Times New Roman"/>
                <a:cs typeface="Times New Roman"/>
              </a:rPr>
              <a:t> </a:t>
            </a:r>
            <a:r>
              <a:rPr sz="1200" b="1" dirty="0">
                <a:latin typeface="Times New Roman"/>
                <a:cs typeface="Times New Roman"/>
              </a:rPr>
              <a:t>Ananthapuramu</a:t>
            </a:r>
            <a:r>
              <a:rPr sz="1200" b="1" spc="-10"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10" dirty="0">
                <a:latin typeface="Times New Roman"/>
                <a:cs typeface="Times New Roman"/>
              </a:rPr>
              <a:t>515701.</a:t>
            </a:r>
            <a:endParaRPr sz="1200" dirty="0">
              <a:latin typeface="Times New Roman"/>
              <a:cs typeface="Times New Roman"/>
            </a:endParaRPr>
          </a:p>
          <a:p>
            <a:pPr marL="6985" algn="ctr">
              <a:lnSpc>
                <a:spcPct val="100000"/>
              </a:lnSpc>
              <a:spcBef>
                <a:spcPts val="545"/>
              </a:spcBef>
            </a:pPr>
            <a:r>
              <a:rPr sz="1300" b="1" dirty="0">
                <a:solidFill>
                  <a:srgbClr val="1E4E78"/>
                </a:solidFill>
                <a:latin typeface="Times New Roman"/>
                <a:cs typeface="Times New Roman"/>
              </a:rPr>
              <a:t>202</a:t>
            </a:r>
            <a:r>
              <a:rPr lang="en-US" sz="1300" b="1" dirty="0">
                <a:solidFill>
                  <a:srgbClr val="1E4E78"/>
                </a:solidFill>
                <a:latin typeface="Times New Roman"/>
                <a:cs typeface="Times New Roman"/>
              </a:rPr>
              <a:t>5</a:t>
            </a:r>
            <a:r>
              <a:rPr sz="1300" b="1" dirty="0">
                <a:solidFill>
                  <a:srgbClr val="1E4E78"/>
                </a:solidFill>
                <a:latin typeface="Times New Roman"/>
                <a:cs typeface="Times New Roman"/>
              </a:rPr>
              <a:t>-</a:t>
            </a:r>
            <a:r>
              <a:rPr sz="1300" b="1" spc="-20" dirty="0">
                <a:solidFill>
                  <a:srgbClr val="1E4E78"/>
                </a:solidFill>
                <a:latin typeface="Times New Roman"/>
                <a:cs typeface="Times New Roman"/>
              </a:rPr>
              <a:t>202</a:t>
            </a:r>
            <a:r>
              <a:rPr lang="en-US" sz="1300" b="1" spc="-20" dirty="0">
                <a:solidFill>
                  <a:srgbClr val="1E4E78"/>
                </a:solidFill>
                <a:latin typeface="Times New Roman"/>
                <a:cs typeface="Times New Roman"/>
              </a:rPr>
              <a:t>6</a:t>
            </a:r>
            <a:endParaRPr sz="1300" dirty="0">
              <a:latin typeface="Times New Roman"/>
              <a:cs typeface="Times New Roman"/>
            </a:endParaRPr>
          </a:p>
        </p:txBody>
      </p:sp>
      <p:sp>
        <p:nvSpPr>
          <p:cNvPr id="12" name="object 12"/>
          <p:cNvSpPr txBox="1"/>
          <p:nvPr/>
        </p:nvSpPr>
        <p:spPr>
          <a:xfrm>
            <a:off x="8534400" y="1687570"/>
            <a:ext cx="2209800" cy="415627"/>
          </a:xfrm>
          <a:prstGeom prst="rect">
            <a:avLst/>
          </a:prstGeom>
        </p:spPr>
        <p:txBody>
          <a:bodyPr vert="horz" wrap="square" lIns="0" tIns="13335" rIns="0" bIns="0" rtlCol="0">
            <a:spAutoFit/>
          </a:bodyPr>
          <a:lstStyle/>
          <a:p>
            <a:pPr algn="ctr">
              <a:lnSpc>
                <a:spcPts val="2080"/>
              </a:lnSpc>
              <a:spcBef>
                <a:spcPts val="105"/>
              </a:spcBef>
            </a:pPr>
            <a:r>
              <a:rPr lang="en-US" sz="2000" dirty="0">
                <a:latin typeface="Times New Roman"/>
                <a:cs typeface="Times New Roman"/>
              </a:rPr>
              <a:t>C.CHANDRAKALA</a:t>
            </a:r>
            <a:endParaRPr sz="2000" dirty="0">
              <a:latin typeface="Times New Roman"/>
              <a:cs typeface="Times New Roman"/>
            </a:endParaRPr>
          </a:p>
          <a:p>
            <a:pPr marL="635" algn="ctr">
              <a:lnSpc>
                <a:spcPts val="1060"/>
              </a:lnSpc>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sz="900" spc="-10" dirty="0">
                <a:latin typeface="Times New Roman"/>
                <a:cs typeface="Times New Roman"/>
              </a:rPr>
              <a:t>2</a:t>
            </a:r>
            <a:r>
              <a:rPr lang="en-US" sz="900" spc="-10" dirty="0">
                <a:latin typeface="Times New Roman"/>
                <a:cs typeface="Times New Roman"/>
              </a:rPr>
              <a:t>3</a:t>
            </a:r>
            <a:r>
              <a:rPr sz="900" spc="-10" dirty="0">
                <a:latin typeface="Times New Roman"/>
                <a:cs typeface="Times New Roman"/>
              </a:rPr>
              <a:t>4G</a:t>
            </a:r>
            <a:r>
              <a:rPr lang="en-US" sz="900" spc="-10" dirty="0">
                <a:latin typeface="Times New Roman"/>
                <a:cs typeface="Times New Roman"/>
              </a:rPr>
              <a:t>5</a:t>
            </a:r>
            <a:r>
              <a:rPr sz="900" spc="-10" dirty="0">
                <a:latin typeface="Times New Roman"/>
                <a:cs typeface="Times New Roman"/>
              </a:rPr>
              <a:t>A05</a:t>
            </a:r>
            <a:r>
              <a:rPr lang="en-US" sz="900" spc="-10" dirty="0">
                <a:latin typeface="Times New Roman"/>
                <a:cs typeface="Times New Roman"/>
              </a:rPr>
              <a:t>01</a:t>
            </a:r>
            <a:endParaRPr sz="900" dirty="0">
              <a:latin typeface="Times New Roman"/>
              <a:cs typeface="Times New Roman"/>
            </a:endParaRPr>
          </a:p>
        </p:txBody>
      </p:sp>
      <p:sp>
        <p:nvSpPr>
          <p:cNvPr id="13" name="object 13"/>
          <p:cNvSpPr txBox="1"/>
          <p:nvPr/>
        </p:nvSpPr>
        <p:spPr>
          <a:xfrm>
            <a:off x="254303" y="1665450"/>
            <a:ext cx="5449582" cy="490519"/>
          </a:xfrm>
          <a:prstGeom prst="rect">
            <a:avLst/>
          </a:prstGeom>
        </p:spPr>
        <p:txBody>
          <a:bodyPr vert="horz" wrap="square" lIns="0" tIns="13335" rIns="0" bIns="0" rtlCol="0">
            <a:spAutoFit/>
          </a:bodyPr>
          <a:lstStyle/>
          <a:p>
            <a:pPr algn="ctr">
              <a:lnSpc>
                <a:spcPct val="100000"/>
              </a:lnSpc>
              <a:spcBef>
                <a:spcPts val="105"/>
              </a:spcBef>
            </a:pPr>
            <a:r>
              <a:rPr lang="en-US" sz="2000" dirty="0">
                <a:latin typeface="Times New Roman"/>
                <a:cs typeface="Times New Roman"/>
              </a:rPr>
              <a:t>N.HARSHAVARDHAN REDDY</a:t>
            </a:r>
            <a:endParaRPr sz="2000" dirty="0">
              <a:latin typeface="Times New Roman"/>
              <a:cs typeface="Times New Roman"/>
            </a:endParaRPr>
          </a:p>
          <a:p>
            <a:pPr marL="1270"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US" sz="1100" spc="-10" dirty="0">
                <a:latin typeface="Times New Roman"/>
                <a:cs typeface="Times New Roman"/>
              </a:rPr>
              <a:t>2</a:t>
            </a:r>
            <a:r>
              <a:rPr sz="1100" spc="-10" dirty="0">
                <a:latin typeface="Times New Roman"/>
                <a:cs typeface="Times New Roman"/>
              </a:rPr>
              <a:t>4G1A05</a:t>
            </a:r>
            <a:r>
              <a:rPr lang="en-US" sz="1100" spc="-10" dirty="0">
                <a:latin typeface="Times New Roman"/>
                <a:cs typeface="Times New Roman"/>
              </a:rPr>
              <a:t>26</a:t>
            </a:r>
            <a:endParaRPr sz="1100" dirty="0">
              <a:latin typeface="Times New Roman"/>
              <a:cs typeface="Times New Roman"/>
            </a:endParaRPr>
          </a:p>
        </p:txBody>
      </p:sp>
      <p:grpSp>
        <p:nvGrpSpPr>
          <p:cNvPr id="14" name="object 14"/>
          <p:cNvGrpSpPr/>
          <p:nvPr/>
        </p:nvGrpSpPr>
        <p:grpSpPr>
          <a:xfrm>
            <a:off x="715009" y="318271"/>
            <a:ext cx="10608310" cy="937894"/>
            <a:chOff x="715009" y="318271"/>
            <a:chExt cx="10608310" cy="937894"/>
          </a:xfrm>
        </p:grpSpPr>
        <p:pic>
          <p:nvPicPr>
            <p:cNvPr id="15" name="object 15"/>
            <p:cNvPicPr/>
            <p:nvPr/>
          </p:nvPicPr>
          <p:blipFill>
            <a:blip r:embed="rId2" cstate="print"/>
            <a:stretch>
              <a:fillRect/>
            </a:stretch>
          </p:blipFill>
          <p:spPr>
            <a:xfrm>
              <a:off x="715009" y="318271"/>
              <a:ext cx="10608182" cy="937864"/>
            </a:xfrm>
            <a:prstGeom prst="rect">
              <a:avLst/>
            </a:prstGeom>
          </p:spPr>
        </p:pic>
        <p:sp>
          <p:nvSpPr>
            <p:cNvPr id="16" name="object 16"/>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7" name="object 17"/>
          <p:cNvSpPr txBox="1">
            <a:spLocks noGrp="1"/>
          </p:cNvSpPr>
          <p:nvPr>
            <p:ph type="title"/>
          </p:nvPr>
        </p:nvSpPr>
        <p:spPr>
          <a:xfrm>
            <a:off x="2948196" y="561533"/>
            <a:ext cx="7221438" cy="505267"/>
          </a:xfrm>
          <a:prstGeom prst="rect">
            <a:avLst/>
          </a:prstGeom>
        </p:spPr>
        <p:txBody>
          <a:bodyPr vert="horz" wrap="square" lIns="0" tIns="12700" rIns="0" bIns="0" rtlCol="0">
            <a:spAutoFit/>
          </a:bodyPr>
          <a:lstStyle/>
          <a:p>
            <a:pPr marL="12700">
              <a:lnSpc>
                <a:spcPct val="100000"/>
              </a:lnSpc>
              <a:spcBef>
                <a:spcPts val="100"/>
              </a:spcBef>
            </a:pPr>
            <a:r>
              <a:rPr lang="en-US" sz="3200" dirty="0"/>
              <a:t>AUTOMATED CODE REVIEW BOT</a:t>
            </a:r>
          </a:p>
        </p:txBody>
      </p:sp>
      <p:sp>
        <p:nvSpPr>
          <p:cNvPr id="18" name="object 18"/>
          <p:cNvSpPr txBox="1"/>
          <p:nvPr/>
        </p:nvSpPr>
        <p:spPr>
          <a:xfrm>
            <a:off x="5910515" y="1283079"/>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19" name="object 19"/>
          <p:cNvPicPr/>
          <p:nvPr/>
        </p:nvPicPr>
        <p:blipFill>
          <a:blip r:embed="rId3" cstate="print"/>
          <a:stretch>
            <a:fillRect/>
          </a:stretch>
        </p:blipFill>
        <p:spPr>
          <a:xfrm>
            <a:off x="5329143" y="3417078"/>
            <a:ext cx="1527378" cy="1685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52999" y="-18339"/>
            <a:ext cx="2194541"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Automated code review Bot</a:t>
            </a:r>
            <a:endParaRPr sz="1500" dirty="0">
              <a:latin typeface="Times New Roman"/>
              <a:cs typeface="Times New Roman"/>
            </a:endParaRPr>
          </a:p>
        </p:txBody>
      </p:sp>
      <p:grpSp>
        <p:nvGrpSpPr>
          <p:cNvPr id="3" name="object 3"/>
          <p:cNvGrpSpPr/>
          <p:nvPr/>
        </p:nvGrpSpPr>
        <p:grpSpPr>
          <a:xfrm>
            <a:off x="0" y="212399"/>
            <a:ext cx="12192000" cy="803275"/>
            <a:chOff x="0" y="212399"/>
            <a:chExt cx="12192000" cy="803275"/>
          </a:xfrm>
        </p:grpSpPr>
        <p:pic>
          <p:nvPicPr>
            <p:cNvPr id="4" name="object 4"/>
            <p:cNvPicPr/>
            <p:nvPr/>
          </p:nvPicPr>
          <p:blipFill>
            <a:blip r:embed="rId2" cstate="print"/>
            <a:stretch>
              <a:fillRect/>
            </a:stretch>
          </p:blipFill>
          <p:spPr>
            <a:xfrm>
              <a:off x="0" y="212399"/>
              <a:ext cx="12192000" cy="803160"/>
            </a:xfrm>
            <a:prstGeom prst="rect">
              <a:avLst/>
            </a:prstGeom>
          </p:spPr>
        </p:pic>
        <p:sp>
          <p:nvSpPr>
            <p:cNvPr id="5" name="object 5"/>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23</a:t>
            </a:r>
            <a:endParaRPr spc="-25" dirty="0"/>
          </a:p>
        </p:txBody>
      </p:sp>
      <p:sp>
        <p:nvSpPr>
          <p:cNvPr id="9" name="object 9"/>
          <p:cNvSpPr txBox="1">
            <a:spLocks noGrp="1"/>
          </p:cNvSpPr>
          <p:nvPr>
            <p:ph type="dt" sz="half" idx="6"/>
          </p:nvPr>
        </p:nvSpPr>
        <p:spPr>
          <a:xfrm>
            <a:off x="1773948" y="6629198"/>
            <a:ext cx="389127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0538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a:t>
            </a:fld>
            <a:endParaRPr spc="-25" dirty="0"/>
          </a:p>
        </p:txBody>
      </p:sp>
      <p:sp>
        <p:nvSpPr>
          <p:cNvPr id="7" name="object 7"/>
          <p:cNvSpPr txBox="1"/>
          <p:nvPr/>
        </p:nvSpPr>
        <p:spPr>
          <a:xfrm>
            <a:off x="325787" y="989990"/>
            <a:ext cx="9460230" cy="4625340"/>
          </a:xfrm>
          <a:prstGeom prst="rect">
            <a:avLst/>
          </a:prstGeom>
        </p:spPr>
        <p:txBody>
          <a:bodyPr vert="horz" wrap="square" lIns="0" tIns="96520" rIns="0" bIns="0" rtlCol="0">
            <a:spAutoFit/>
          </a:bodyPr>
          <a:lstStyle/>
          <a:p>
            <a:pPr marL="421005" indent="-408305">
              <a:lnSpc>
                <a:spcPct val="100000"/>
              </a:lnSpc>
              <a:spcBef>
                <a:spcPts val="760"/>
              </a:spcBef>
              <a:buChar char="•"/>
              <a:tabLst>
                <a:tab pos="421005" algn="l"/>
              </a:tabLst>
            </a:pPr>
            <a:r>
              <a:rPr sz="2800" dirty="0">
                <a:latin typeface="Times New Roman"/>
                <a:cs typeface="Times New Roman"/>
              </a:rPr>
              <a:t>Title</a:t>
            </a:r>
            <a:r>
              <a:rPr sz="2800" spc="-25" dirty="0">
                <a:latin typeface="Times New Roman"/>
                <a:cs typeface="Times New Roman"/>
              </a:rPr>
              <a:t> </a:t>
            </a:r>
            <a:r>
              <a:rPr sz="2800" spc="-10" dirty="0">
                <a:latin typeface="Times New Roman"/>
                <a:cs typeface="Times New Roman"/>
              </a:rPr>
              <a:t>Justification</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Abstract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Problem</a:t>
            </a:r>
            <a:r>
              <a:rPr sz="2800" spc="-3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Objectives</a:t>
            </a:r>
            <a:r>
              <a:rPr sz="2800" spc="-40"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spc="-10" dirty="0">
                <a:latin typeface="Times New Roman"/>
                <a:cs typeface="Times New Roman"/>
              </a:rPr>
              <a:t>Project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Literature</a:t>
            </a:r>
            <a:r>
              <a:rPr sz="2800" spc="-35" dirty="0">
                <a:latin typeface="Times New Roman"/>
                <a:cs typeface="Times New Roman"/>
              </a:rPr>
              <a:t> </a:t>
            </a:r>
            <a:r>
              <a:rPr sz="2800" dirty="0">
                <a:latin typeface="Times New Roman"/>
                <a:cs typeface="Times New Roman"/>
              </a:rPr>
              <a:t>survey</a:t>
            </a:r>
            <a:r>
              <a:rPr sz="2800" spc="-25"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spc="-10" dirty="0">
                <a:latin typeface="Times New Roman"/>
                <a:cs typeface="Times New Roman"/>
              </a:rPr>
              <a:t>objectives</a:t>
            </a:r>
            <a:endParaRPr sz="2800" dirty="0">
              <a:latin typeface="Times New Roman"/>
              <a:cs typeface="Times New Roman"/>
            </a:endParaRPr>
          </a:p>
          <a:p>
            <a:pPr marL="421005" indent="-408305">
              <a:lnSpc>
                <a:spcPct val="100000"/>
              </a:lnSpc>
              <a:spcBef>
                <a:spcPts val="660"/>
              </a:spcBef>
              <a:buChar char="•"/>
              <a:tabLst>
                <a:tab pos="421005" algn="l"/>
              </a:tabLst>
            </a:pPr>
            <a:r>
              <a:rPr sz="2800" dirty="0">
                <a:latin typeface="Times New Roman"/>
                <a:cs typeface="Times New Roman"/>
              </a:rPr>
              <a:t>Proposed</a:t>
            </a:r>
            <a:r>
              <a:rPr sz="2800" spc="-25" dirty="0">
                <a:latin typeface="Times New Roman"/>
                <a:cs typeface="Times New Roman"/>
              </a:rPr>
              <a:t> </a:t>
            </a:r>
            <a:r>
              <a:rPr sz="2800" dirty="0">
                <a:latin typeface="Times New Roman"/>
                <a:cs typeface="Times New Roman"/>
              </a:rPr>
              <a:t>Work</a:t>
            </a:r>
            <a:r>
              <a:rPr sz="2800" spc="-20" dirty="0">
                <a:latin typeface="Times New Roman"/>
                <a:cs typeface="Times New Roman"/>
              </a:rPr>
              <a:t> </a:t>
            </a:r>
            <a:r>
              <a:rPr sz="2800" spc="-10" dirty="0">
                <a:latin typeface="Times New Roman"/>
                <a:cs typeface="Times New Roman"/>
              </a:rPr>
              <a:t>-</a:t>
            </a:r>
            <a:r>
              <a:rPr sz="2800" dirty="0">
                <a:latin typeface="Times New Roman"/>
                <a:cs typeface="Times New Roman"/>
              </a:rPr>
              <a:t>(Methods</a:t>
            </a:r>
            <a:r>
              <a:rPr sz="2800" spc="-25" dirty="0">
                <a:latin typeface="Times New Roman"/>
                <a:cs typeface="Times New Roman"/>
              </a:rPr>
              <a:t> </a:t>
            </a:r>
            <a:r>
              <a:rPr sz="2800" dirty="0">
                <a:latin typeface="Times New Roman"/>
                <a:cs typeface="Times New Roman"/>
              </a:rPr>
              <a:t>to</a:t>
            </a:r>
            <a:r>
              <a:rPr sz="2800" spc="-25" dirty="0">
                <a:latin typeface="Times New Roman"/>
                <a:cs typeface="Times New Roman"/>
              </a:rPr>
              <a:t> </a:t>
            </a:r>
            <a:r>
              <a:rPr sz="2800" dirty="0">
                <a:latin typeface="Times New Roman"/>
                <a:cs typeface="Times New Roman"/>
              </a:rPr>
              <a:t>be</a:t>
            </a:r>
            <a:r>
              <a:rPr sz="2800" spc="-25" dirty="0">
                <a:latin typeface="Times New Roman"/>
                <a:cs typeface="Times New Roman"/>
              </a:rPr>
              <a:t> </a:t>
            </a:r>
            <a:r>
              <a:rPr sz="2800" dirty="0">
                <a:latin typeface="Times New Roman"/>
                <a:cs typeface="Times New Roman"/>
              </a:rPr>
              <a:t>followed</a:t>
            </a:r>
            <a:r>
              <a:rPr sz="2800" spc="-20"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dirty="0">
                <a:latin typeface="Times New Roman"/>
                <a:cs typeface="Times New Roman"/>
              </a:rPr>
              <a:t>proposed</a:t>
            </a:r>
            <a:r>
              <a:rPr sz="2800" spc="-20" dirty="0">
                <a:latin typeface="Times New Roman"/>
                <a:cs typeface="Times New Roman"/>
              </a:rPr>
              <a:t> </a:t>
            </a:r>
            <a:r>
              <a:rPr sz="2800" spc="-10" dirty="0">
                <a:latin typeface="Times New Roman"/>
                <a:cs typeface="Times New Roman"/>
              </a:rPr>
              <a:t>system)</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References</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GitHub </a:t>
            </a:r>
            <a:r>
              <a:rPr sz="2800" spc="-20" dirty="0">
                <a:latin typeface="Times New Roman"/>
                <a:cs typeface="Times New Roman"/>
              </a:rPr>
              <a:t>Link</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Queries</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4952999" y="-18339"/>
            <a:ext cx="2194541"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Automated code review Bot</a:t>
            </a:r>
            <a:endParaRPr sz="1500" dirty="0">
              <a:latin typeface="Times New Roman"/>
              <a:cs typeface="Times New Roman"/>
            </a:endParaRPr>
          </a:p>
        </p:txBody>
      </p:sp>
      <p:grpSp>
        <p:nvGrpSpPr>
          <p:cNvPr id="4" name="object 4"/>
          <p:cNvGrpSpPr/>
          <p:nvPr/>
        </p:nvGrpSpPr>
        <p:grpSpPr>
          <a:xfrm>
            <a:off x="0" y="212399"/>
            <a:ext cx="12192000" cy="803275"/>
            <a:chOff x="0" y="212399"/>
            <a:chExt cx="12192000" cy="803275"/>
          </a:xfrm>
        </p:grpSpPr>
        <p:pic>
          <p:nvPicPr>
            <p:cNvPr id="5" name="object 5"/>
            <p:cNvPicPr/>
            <p:nvPr/>
          </p:nvPicPr>
          <p:blipFill>
            <a:blip r:embed="rId2" cstate="print"/>
            <a:stretch>
              <a:fillRect/>
            </a:stretch>
          </p:blipFill>
          <p:spPr>
            <a:xfrm>
              <a:off x="0" y="212399"/>
              <a:ext cx="12192000" cy="803160"/>
            </a:xfrm>
            <a:prstGeom prst="rect">
              <a:avLst/>
            </a:prstGeom>
          </p:spPr>
        </p:pic>
        <p:sp>
          <p:nvSpPr>
            <p:cNvPr id="6" name="object 6"/>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Title</a:t>
            </a:r>
            <a:r>
              <a:rPr spc="-110" dirty="0"/>
              <a:t> </a:t>
            </a:r>
            <a:r>
              <a:rPr spc="-10" dirty="0"/>
              <a:t>Justification</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23</a:t>
            </a:r>
            <a:endParaRPr spc="-25" dirty="0"/>
          </a:p>
        </p:txBody>
      </p:sp>
      <p:sp>
        <p:nvSpPr>
          <p:cNvPr id="9" name="object 9"/>
          <p:cNvSpPr txBox="1">
            <a:spLocks noGrp="1"/>
          </p:cNvSpPr>
          <p:nvPr>
            <p:ph type="dt" sz="half" idx="6"/>
          </p:nvPr>
        </p:nvSpPr>
        <p:spPr>
          <a:xfrm>
            <a:off x="1773948" y="6629198"/>
            <a:ext cx="3712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39776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
        <p:nvSpPr>
          <p:cNvPr id="13" name="TextBox 12">
            <a:extLst>
              <a:ext uri="{FF2B5EF4-FFF2-40B4-BE49-F238E27FC236}">
                <a16:creationId xmlns:a16="http://schemas.microsoft.com/office/drawing/2014/main" id="{A9924C31-CA33-3AA0-F6AC-3F8332B657C5}"/>
              </a:ext>
            </a:extLst>
          </p:cNvPr>
          <p:cNvSpPr txBox="1"/>
          <p:nvPr/>
        </p:nvSpPr>
        <p:spPr>
          <a:xfrm>
            <a:off x="696815" y="1122122"/>
            <a:ext cx="10798369" cy="5011949"/>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“Automated” reflects that the system performs code analysis without manual intervention, reducing human effort and time.</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“Code Review” highlights the core functionality of detecting errors, analyzing logic, and improving overall code quality.</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“Using NLP and LLM” justifies the use of advanced Natural Language Processing and Large Language Models to understand code semantics and provide intelligent suggestions.</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title conveys a modern system that enhances developer productivity by offering accurate, real-time code evaluation and optimization.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29200" y="-18339"/>
            <a:ext cx="22098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Automated code review Bot</a:t>
            </a:r>
            <a:endParaRPr sz="1500" dirty="0">
              <a:latin typeface="Times New Roman"/>
              <a:cs typeface="Times New Roman"/>
            </a:endParaRPr>
          </a:p>
        </p:txBody>
      </p:sp>
      <p:grpSp>
        <p:nvGrpSpPr>
          <p:cNvPr id="3" name="object 3"/>
          <p:cNvGrpSpPr/>
          <p:nvPr/>
        </p:nvGrpSpPr>
        <p:grpSpPr>
          <a:xfrm>
            <a:off x="-1301" y="229946"/>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69986" y="318951"/>
            <a:ext cx="2039814" cy="689932"/>
          </a:xfrm>
          <a:prstGeom prst="rect">
            <a:avLst/>
          </a:prstGeom>
        </p:spPr>
        <p:txBody>
          <a:bodyPr vert="horz" wrap="square" lIns="0" tIns="12700" rIns="0" bIns="0" rtlCol="0">
            <a:spAutoFit/>
          </a:bodyPr>
          <a:lstStyle/>
          <a:p>
            <a:pPr marL="12700">
              <a:lnSpc>
                <a:spcPct val="100000"/>
              </a:lnSpc>
              <a:spcBef>
                <a:spcPts val="100"/>
              </a:spcBef>
            </a:pPr>
            <a:r>
              <a:rPr spc="-10" dirty="0"/>
              <a:t>Abstract</a:t>
            </a:r>
            <a:endParaRPr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23</a:t>
            </a:r>
            <a:endParaRPr spc="-25" dirty="0"/>
          </a:p>
        </p:txBody>
      </p:sp>
      <p:sp>
        <p:nvSpPr>
          <p:cNvPr id="9" name="object 9"/>
          <p:cNvSpPr txBox="1">
            <a:spLocks noGrp="1"/>
          </p:cNvSpPr>
          <p:nvPr>
            <p:ph type="dt" sz="half" idx="6"/>
          </p:nvPr>
        </p:nvSpPr>
        <p:spPr>
          <a:xfrm>
            <a:off x="1773948" y="6625080"/>
            <a:ext cx="3706983"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400"/>
            <a:ext cx="39776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12" name="TextBox 11">
            <a:extLst>
              <a:ext uri="{FF2B5EF4-FFF2-40B4-BE49-F238E27FC236}">
                <a16:creationId xmlns:a16="http://schemas.microsoft.com/office/drawing/2014/main" id="{03289E10-C778-97C5-3BEF-64F0215EEA35}"/>
              </a:ext>
            </a:extLst>
          </p:cNvPr>
          <p:cNvSpPr txBox="1"/>
          <p:nvPr/>
        </p:nvSpPr>
        <p:spPr>
          <a:xfrm>
            <a:off x="695515" y="1524000"/>
            <a:ext cx="10798369" cy="4457952"/>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Automated Code Review Bot is a software system designed to automatically analyze source code and provide detailed feedback on errors, vulnerabilities, style violations, and performance issues. Traditional manual code reviews are time-consuming and depend heavily on the reviewer’s skill and availability. This project automates the review process using rule-based analysis and machine learning techniques, ensuring consistent, fast, and objective code quality checks. The bot provides instant recommendations, allowing developers to improve code quality early in the development cycle and reduce overall development cost and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52999" y="-18339"/>
            <a:ext cx="2194541"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Automated code review Bot</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Problem</a:t>
            </a:r>
            <a:r>
              <a:rPr spc="-185" dirty="0"/>
              <a:t> </a:t>
            </a:r>
            <a:r>
              <a:rPr spc="-10" dirty="0"/>
              <a:t>Statement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23</a:t>
            </a:r>
            <a:endParaRPr spc="-25" dirty="0"/>
          </a:p>
        </p:txBody>
      </p:sp>
      <p:sp>
        <p:nvSpPr>
          <p:cNvPr id="9" name="object 9"/>
          <p:cNvSpPr txBox="1">
            <a:spLocks noGrp="1"/>
          </p:cNvSpPr>
          <p:nvPr>
            <p:ph type="dt" sz="half" idx="6"/>
          </p:nvPr>
        </p:nvSpPr>
        <p:spPr>
          <a:xfrm>
            <a:off x="1773948" y="6625080"/>
            <a:ext cx="37886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5081"/>
            <a:ext cx="39776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
        <p:nvSpPr>
          <p:cNvPr id="12" name="TextBox 11">
            <a:extLst>
              <a:ext uri="{FF2B5EF4-FFF2-40B4-BE49-F238E27FC236}">
                <a16:creationId xmlns:a16="http://schemas.microsoft.com/office/drawing/2014/main" id="{F64B098F-2EEB-E3B6-D749-B5552382089A}"/>
              </a:ext>
            </a:extLst>
          </p:cNvPr>
          <p:cNvSpPr txBox="1"/>
          <p:nvPr/>
        </p:nvSpPr>
        <p:spPr>
          <a:xfrm>
            <a:off x="784031" y="1524000"/>
            <a:ext cx="10798369" cy="3782061"/>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Modern software development involves frequent code changes, making manual reviews slow and prone to human error. Developers often miss hidden bugs, security vulnerabilities, and performance bottlenecks due to time constraints. Inconsistent coding styles across team members further increase maintenance challenges. There is a growing need for an automated system that can continuously analyze code, detect issues, and enforce coding standards with minimal human intervention.</a:t>
            </a:r>
            <a:endParaRPr lang="en-US" sz="2400" spc="-10"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52999" y="-18339"/>
            <a:ext cx="2194541"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Automated code review Bot</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3145790" algn="l"/>
              </a:tabLst>
            </a:pPr>
            <a:r>
              <a:rPr dirty="0"/>
              <a:t>Objectives</a:t>
            </a:r>
            <a:r>
              <a:rPr spc="-60" dirty="0"/>
              <a:t> </a:t>
            </a:r>
            <a:r>
              <a:rPr spc="-25" dirty="0"/>
              <a:t>of</a:t>
            </a:r>
            <a:r>
              <a:rPr dirty="0"/>
              <a:t>	</a:t>
            </a:r>
            <a:r>
              <a:rPr spc="-10" dirty="0"/>
              <a:t>Project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23</a:t>
            </a:r>
            <a:endParaRPr spc="-25" dirty="0"/>
          </a:p>
        </p:txBody>
      </p:sp>
      <p:sp>
        <p:nvSpPr>
          <p:cNvPr id="9" name="object 9"/>
          <p:cNvSpPr txBox="1">
            <a:spLocks noGrp="1"/>
          </p:cNvSpPr>
          <p:nvPr>
            <p:ph type="dt" sz="half" idx="6"/>
          </p:nvPr>
        </p:nvSpPr>
        <p:spPr>
          <a:xfrm>
            <a:off x="1773948" y="6625080"/>
            <a:ext cx="37886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5081"/>
            <a:ext cx="39776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12" name="TextBox 11">
            <a:extLst>
              <a:ext uri="{FF2B5EF4-FFF2-40B4-BE49-F238E27FC236}">
                <a16:creationId xmlns:a16="http://schemas.microsoft.com/office/drawing/2014/main" id="{0E910147-AAFE-44E0-90DF-57091E7D7810}"/>
              </a:ext>
            </a:extLst>
          </p:cNvPr>
          <p:cNvSpPr txBox="1"/>
          <p:nvPr/>
        </p:nvSpPr>
        <p:spPr>
          <a:xfrm>
            <a:off x="784031" y="1524000"/>
            <a:ext cx="10798369" cy="334995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develop an Automated system that can automatically detect syntax errors, logical issues and missing components in multi-language code. </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provide intelligent optimization suggestions that improve code readability, performance and maintainability. </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Develop an intelligent recommendation mechanism focused on code optimization to support developers in writing cleaner, efficient code.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52999" y="-18339"/>
            <a:ext cx="2194541"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Automated code review Bot</a:t>
            </a:r>
            <a:endParaRPr sz="1500" dirty="0">
              <a:latin typeface="Times New Roman"/>
              <a:cs typeface="Times New Roman"/>
            </a:endParaRPr>
          </a:p>
        </p:txBody>
      </p:sp>
      <p:grpSp>
        <p:nvGrpSpPr>
          <p:cNvPr id="3" name="object 3"/>
          <p:cNvGrpSpPr/>
          <p:nvPr/>
        </p:nvGrpSpPr>
        <p:grpSpPr>
          <a:xfrm>
            <a:off x="0" y="187325"/>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p:nvPr/>
        </p:nvSpPr>
        <p:spPr>
          <a:xfrm>
            <a:off x="73025" y="209958"/>
            <a:ext cx="4495165" cy="1577355"/>
          </a:xfrm>
          <a:prstGeom prst="rect">
            <a:avLst/>
          </a:prstGeom>
        </p:spPr>
        <p:txBody>
          <a:bodyPr vert="horz" wrap="square" lIns="0" tIns="12700" rIns="0" bIns="0" rtlCol="0">
            <a:spAutoFit/>
          </a:bodyPr>
          <a:lstStyle/>
          <a:p>
            <a:pPr marL="12700">
              <a:lnSpc>
                <a:spcPct val="100000"/>
              </a:lnSpc>
              <a:spcBef>
                <a:spcPts val="100"/>
              </a:spcBef>
            </a:pPr>
            <a:r>
              <a:rPr sz="4400" dirty="0">
                <a:solidFill>
                  <a:schemeClr val="bg1"/>
                </a:solidFill>
                <a:latin typeface="Times New Roman"/>
                <a:cs typeface="Times New Roman"/>
              </a:rPr>
              <a:t>Literature</a:t>
            </a:r>
            <a:r>
              <a:rPr sz="4400" spc="-35" dirty="0">
                <a:solidFill>
                  <a:schemeClr val="bg1"/>
                </a:solidFill>
                <a:latin typeface="Times New Roman"/>
                <a:cs typeface="Times New Roman"/>
              </a:rPr>
              <a:t> </a:t>
            </a:r>
            <a:r>
              <a:rPr sz="4400" dirty="0">
                <a:solidFill>
                  <a:schemeClr val="bg1"/>
                </a:solidFill>
                <a:latin typeface="Times New Roman"/>
                <a:cs typeface="Times New Roman"/>
              </a:rPr>
              <a:t>survey</a:t>
            </a:r>
          </a:p>
          <a:p>
            <a:pPr>
              <a:lnSpc>
                <a:spcPct val="100000"/>
              </a:lnSpc>
              <a:spcBef>
                <a:spcPts val="225"/>
              </a:spcBef>
            </a:pPr>
            <a:endParaRPr sz="2800" dirty="0">
              <a:latin typeface="Times New Roman"/>
              <a:cs typeface="Times New Roman"/>
            </a:endParaRPr>
          </a:p>
          <a:p>
            <a:pPr marL="176530">
              <a:lnSpc>
                <a:spcPct val="100000"/>
              </a:lnSpc>
            </a:pPr>
            <a:endParaRPr sz="2800" dirty="0">
              <a:latin typeface="Lucida Sans Unicode"/>
              <a:cs typeface="Lucida Sans Unicode"/>
            </a:endParaRPr>
          </a:p>
        </p:txBody>
      </p:sp>
      <p:sp>
        <p:nvSpPr>
          <p:cNvPr id="7" name="object 7"/>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23</a:t>
            </a:r>
            <a:endParaRPr spc="-25" dirty="0"/>
          </a:p>
        </p:txBody>
      </p:sp>
      <p:sp>
        <p:nvSpPr>
          <p:cNvPr id="8" name="object 8"/>
          <p:cNvSpPr txBox="1">
            <a:spLocks noGrp="1"/>
          </p:cNvSpPr>
          <p:nvPr>
            <p:ph type="dt" sz="half" idx="6"/>
          </p:nvPr>
        </p:nvSpPr>
        <p:spPr>
          <a:xfrm>
            <a:off x="1773948" y="6625080"/>
            <a:ext cx="37886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9" name="object 9"/>
          <p:cNvSpPr txBox="1"/>
          <p:nvPr/>
        </p:nvSpPr>
        <p:spPr>
          <a:xfrm>
            <a:off x="7147541" y="6625081"/>
            <a:ext cx="39776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7</a:t>
            </a:fld>
            <a:endParaRPr spc="-25" dirty="0"/>
          </a:p>
        </p:txBody>
      </p:sp>
      <p:sp>
        <p:nvSpPr>
          <p:cNvPr id="11" name="TextBox 10">
            <a:extLst>
              <a:ext uri="{FF2B5EF4-FFF2-40B4-BE49-F238E27FC236}">
                <a16:creationId xmlns:a16="http://schemas.microsoft.com/office/drawing/2014/main" id="{01DEA48B-41B1-ED8A-1BAB-DCEC5244686E}"/>
              </a:ext>
            </a:extLst>
          </p:cNvPr>
          <p:cNvSpPr txBox="1"/>
          <p:nvPr/>
        </p:nvSpPr>
        <p:spPr>
          <a:xfrm>
            <a:off x="647698" y="1006685"/>
            <a:ext cx="11145547" cy="5565947"/>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Early generation</a:t>
            </a:r>
            <a:r>
              <a:rPr lang="en-US" sz="2400" dirty="0">
                <a:latin typeface="Times New Roman" panose="02020603050405020304" pitchFamily="18" charset="0"/>
                <a:cs typeface="Times New Roman" panose="02020603050405020304" pitchFamily="18" charset="0"/>
              </a:rPr>
              <a:t>: rule-based linters and static analyzers (lint, PMD, CodeQL, eslint, pylint) were the first “bots” that could comment or fail CI checks on PRs. These are precise but limited to encoded rules.</a:t>
            </a:r>
          </a:p>
          <a:p>
            <a:pPr>
              <a:lnSpc>
                <a:spcPct val="150000"/>
              </a:lnSpc>
            </a:pPr>
            <a:r>
              <a:rPr lang="en-US" sz="2400" b="1" dirty="0">
                <a:latin typeface="Times New Roman" panose="02020603050405020304" pitchFamily="18" charset="0"/>
                <a:cs typeface="Times New Roman" panose="02020603050405020304" pitchFamily="18" charset="0"/>
              </a:rPr>
              <a:t>ML era</a:t>
            </a:r>
            <a:r>
              <a:rPr lang="en-US" sz="2400" dirty="0">
                <a:latin typeface="Times New Roman" panose="02020603050405020304" pitchFamily="18" charset="0"/>
                <a:cs typeface="Times New Roman" panose="02020603050405020304" pitchFamily="18" charset="0"/>
              </a:rPr>
              <a:t>: over the 2010s and early 2020s, researchers applied ML to source-code tasks (bug detection, code clone detection, reviewer recommendation), expanding automation beyond fixed rules. Surveys summarize those trends and the limits of classical ML approaches.</a:t>
            </a:r>
          </a:p>
          <a:p>
            <a:pPr>
              <a:lnSpc>
                <a:spcPct val="150000"/>
              </a:lnSpc>
            </a:pPr>
            <a:r>
              <a:rPr lang="en-US" sz="2400" b="1" dirty="0">
                <a:latin typeface="Times New Roman" panose="02020603050405020304" pitchFamily="18" charset="0"/>
                <a:cs typeface="Times New Roman" panose="02020603050405020304" pitchFamily="18" charset="0"/>
              </a:rPr>
              <a:t>LLM era (2023– )</a:t>
            </a:r>
            <a:r>
              <a:rPr lang="en-US" sz="2400" dirty="0">
                <a:latin typeface="Times New Roman" panose="02020603050405020304" pitchFamily="18" charset="0"/>
                <a:cs typeface="Times New Roman" panose="02020603050405020304" pitchFamily="18" charset="0"/>
              </a:rPr>
              <a:t>: instruction-tuned LLMs are now used to generate natural-language review comments, explanations, and suggested edits — enabling richer, contextual reviews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52999" y="-18339"/>
            <a:ext cx="2194541"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Automated code review Bot</a:t>
            </a:r>
            <a:endParaRPr sz="1500" dirty="0">
              <a:latin typeface="Times New Roman"/>
              <a:cs typeface="Times New Roman"/>
            </a:endParaRPr>
          </a:p>
        </p:txBody>
      </p:sp>
      <p:grpSp>
        <p:nvGrpSpPr>
          <p:cNvPr id="4" name="object 4"/>
          <p:cNvGrpSpPr/>
          <p:nvPr/>
        </p:nvGrpSpPr>
        <p:grpSpPr>
          <a:xfrm>
            <a:off x="0" y="168237"/>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3"/>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23</a:t>
            </a:r>
            <a:endParaRPr spc="-25" dirty="0"/>
          </a:p>
        </p:txBody>
      </p:sp>
      <p:sp>
        <p:nvSpPr>
          <p:cNvPr id="9" name="object 9"/>
          <p:cNvSpPr txBox="1">
            <a:spLocks noGrp="1"/>
          </p:cNvSpPr>
          <p:nvPr>
            <p:ph type="dt" sz="half" idx="6"/>
          </p:nvPr>
        </p:nvSpPr>
        <p:spPr>
          <a:xfrm>
            <a:off x="1773948" y="6625080"/>
            <a:ext cx="37886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5081"/>
            <a:ext cx="39776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
        <p:nvSpPr>
          <p:cNvPr id="12" name="TextBox 11">
            <a:extLst>
              <a:ext uri="{FF2B5EF4-FFF2-40B4-BE49-F238E27FC236}">
                <a16:creationId xmlns:a16="http://schemas.microsoft.com/office/drawing/2014/main" id="{9D0735FF-BBB5-6D8E-47E3-5A04AED2F3BB}"/>
              </a:ext>
            </a:extLst>
          </p:cNvPr>
          <p:cNvSpPr txBox="1"/>
          <p:nvPr/>
        </p:nvSpPr>
        <p:spPr>
          <a:xfrm>
            <a:off x="571500" y="1157973"/>
            <a:ext cx="11049000" cy="3903954"/>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Our project is designed to automatically analyze the code and give feedback to the user.</a:t>
            </a:r>
          </a:p>
          <a:p>
            <a:pPr algn="just">
              <a:lnSpc>
                <a:spcPct val="150000"/>
              </a:lnSpc>
            </a:pPr>
            <a:r>
              <a:rPr lang="en-US" sz="2400" dirty="0">
                <a:latin typeface="Times New Roman" panose="02020603050405020304" pitchFamily="18" charset="0"/>
                <a:cs typeface="Times New Roman" panose="02020603050405020304" pitchFamily="18" charset="0"/>
              </a:rPr>
              <a:t>The feedback can be error detection, suggestions or optimization of the code.</a:t>
            </a:r>
          </a:p>
          <a:p>
            <a:pPr algn="just">
              <a:lnSpc>
                <a:spcPct val="150000"/>
              </a:lnSpc>
            </a:pPr>
            <a:r>
              <a:rPr lang="en-US" sz="2400" dirty="0">
                <a:latin typeface="Times New Roman" panose="02020603050405020304" pitchFamily="18" charset="0"/>
                <a:cs typeface="Times New Roman" panose="02020603050405020304" pitchFamily="18" charset="0"/>
              </a:rPr>
              <a:t>We uses a LLM Model where:</a:t>
            </a:r>
          </a:p>
          <a:p>
            <a:pPr algn="just">
              <a:lnSpc>
                <a:spcPct val="150000"/>
              </a:lnSpc>
            </a:pPr>
            <a:r>
              <a:rPr lang="en-US" sz="2400" dirty="0">
                <a:latin typeface="Times New Roman" panose="02020603050405020304" pitchFamily="18" charset="0"/>
                <a:cs typeface="Times New Roman" panose="02020603050405020304" pitchFamily="18" charset="0"/>
              </a:rPr>
              <a:t>	It automatically analyzes the code and give the feedback to the user.</a:t>
            </a:r>
          </a:p>
          <a:p>
            <a:pPr algn="just">
              <a:lnSpc>
                <a:spcPct val="150000"/>
              </a:lnSpc>
            </a:pPr>
            <a:r>
              <a:rPr lang="en-US" sz="2400" dirty="0">
                <a:latin typeface="Times New Roman" panose="02020603050405020304" pitchFamily="18" charset="0"/>
                <a:cs typeface="Times New Roman" panose="02020603050405020304" pitchFamily="18" charset="0"/>
              </a:rPr>
              <a:t>	It automatically detects how the problem can be easily solved whether using recursion, loops or any other methods.</a:t>
            </a:r>
          </a:p>
          <a:p>
            <a:pPr algn="just">
              <a:lnSpc>
                <a:spcPct val="150000"/>
              </a:lnSpc>
            </a:pPr>
            <a:r>
              <a:rPr lang="en-US" sz="2400" dirty="0">
                <a:latin typeface="Times New Roman" panose="02020603050405020304" pitchFamily="18" charset="0"/>
                <a:cs typeface="Times New Roman" panose="02020603050405020304" pitchFamily="18" charset="0"/>
              </a:rPr>
              <a:t>	The main goal is to make the development process faster and easier.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52999" y="-18339"/>
            <a:ext cx="2194541"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Automated code review Bot</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9" name="object 9"/>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23</a:t>
            </a:r>
            <a:endParaRPr spc="-25" dirty="0"/>
          </a:p>
        </p:txBody>
      </p:sp>
      <p:sp>
        <p:nvSpPr>
          <p:cNvPr id="10" name="object 10"/>
          <p:cNvSpPr txBox="1">
            <a:spLocks noGrp="1"/>
          </p:cNvSpPr>
          <p:nvPr>
            <p:ph type="dt" sz="half" idx="6"/>
          </p:nvPr>
        </p:nvSpPr>
        <p:spPr>
          <a:xfrm>
            <a:off x="1773948" y="6625080"/>
            <a:ext cx="3712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p:cNvSpPr txBox="1"/>
          <p:nvPr/>
        </p:nvSpPr>
        <p:spPr>
          <a:xfrm>
            <a:off x="7147541" y="6625081"/>
            <a:ext cx="39776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sp>
        <p:nvSpPr>
          <p:cNvPr id="13" name="TextBox 12">
            <a:extLst>
              <a:ext uri="{FF2B5EF4-FFF2-40B4-BE49-F238E27FC236}">
                <a16:creationId xmlns:a16="http://schemas.microsoft.com/office/drawing/2014/main" id="{2B534EE4-7247-A472-54E8-BF10F79F09CB}"/>
              </a:ext>
            </a:extLst>
          </p:cNvPr>
          <p:cNvSpPr txBox="1"/>
          <p:nvPr/>
        </p:nvSpPr>
        <p:spPr>
          <a:xfrm>
            <a:off x="695515" y="1113342"/>
            <a:ext cx="10798369" cy="5011949"/>
          </a:xfrm>
          <a:prstGeom prst="rect">
            <a:avLst/>
          </a:prstGeom>
          <a:noFill/>
        </p:spPr>
        <p:txBody>
          <a:bodyPr wrap="square">
            <a:spAutoFit/>
          </a:bodyPr>
          <a:lstStyle/>
          <a:p>
            <a:pPr marL="342900" indent="-3429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Cihan, Umut, et al. "Automated code review in practice." 2025 IEEE/ACM 47th International Conference on Software Engineering: Software Engineering in Practice (ICSE-SEIP). IEEE, 2025.</a:t>
            </a:r>
          </a:p>
          <a:p>
            <a:pPr marL="342900" indent="-3429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Martins, Gustavo F., Emiliandro CM Firmino, and Vinicius P. De Mello. "The Use of Large Language Model in Code Review Automation: An Examination of Enforcing SOLID Principles." International Conference on Human-Computer Interaction. Cham: Springer Nature Switzerland, 2024.</a:t>
            </a:r>
          </a:p>
          <a:p>
            <a:pPr marL="342900" indent="-3429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Tufano, Rosalia, et al. "Code review automation: strengths and weaknesses of the state of the art." IEEE Transactions on Software Engineering 50.2 (2024): 338-353.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a:extLst>
              <a:ext uri="{28A0092B-C50C-407E-A947-70E740481C1C}">
                <a14:useLocalDpi xmlns:a14="http://schemas.microsoft.com/office/drawing/2010/main" val="0"/>
              </a:ext>
            </a:extLst>
          </a:blip>
          <a:srcRect/>
          <a:stretch/>
        </p:blipFill>
        <p:spPr>
          <a:xfrm>
            <a:off x="1219200" y="1402464"/>
            <a:ext cx="9493597" cy="4435782"/>
          </a:xfrm>
          <a:prstGeom prst="rect">
            <a:avLst/>
          </a:prstGeom>
        </p:spPr>
      </p:pic>
      <p:sp>
        <p:nvSpPr>
          <p:cNvPr id="3" name="object 3"/>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4" name="object 4"/>
          <p:cNvSpPr txBox="1"/>
          <p:nvPr/>
        </p:nvSpPr>
        <p:spPr>
          <a:xfrm>
            <a:off x="4952999" y="-18339"/>
            <a:ext cx="2194541"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Automated code review Bot</a:t>
            </a:r>
            <a:endParaRPr sz="1500" dirty="0">
              <a:latin typeface="Times New Roman"/>
              <a:cs typeface="Times New Roman"/>
            </a:endParaRPr>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3"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rPr dirty="0"/>
              <a:t>	Dashboards</a:t>
            </a:r>
            <a:r>
              <a:rPr spc="-60" dirty="0"/>
              <a:t> </a:t>
            </a:r>
            <a:r>
              <a:rPr spc="-25" dirty="0"/>
              <a:t>of</a:t>
            </a:r>
            <a:r>
              <a:rPr dirty="0"/>
              <a:t>	</a:t>
            </a:r>
            <a:r>
              <a:rPr spc="-20" dirty="0"/>
              <a:t>each</a:t>
            </a:r>
            <a:r>
              <a:rPr dirty="0"/>
              <a:t>	</a:t>
            </a:r>
            <a:r>
              <a:rPr spc="-10" dirty="0"/>
              <a:t>student</a:t>
            </a:r>
          </a:p>
        </p:txBody>
      </p:sp>
      <p:sp>
        <p:nvSpPr>
          <p:cNvPr id="10" name="object 10"/>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23</a:t>
            </a:r>
            <a:endParaRPr spc="-25" dirty="0"/>
          </a:p>
        </p:txBody>
      </p:sp>
      <p:sp>
        <p:nvSpPr>
          <p:cNvPr id="11" name="object 11"/>
          <p:cNvSpPr txBox="1">
            <a:spLocks noGrp="1"/>
          </p:cNvSpPr>
          <p:nvPr>
            <p:ph type="dt" sz="half" idx="6"/>
          </p:nvPr>
        </p:nvSpPr>
        <p:spPr>
          <a:xfrm>
            <a:off x="1773948" y="6625080"/>
            <a:ext cx="37886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7147541" y="6625081"/>
            <a:ext cx="39763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9" name="object 9"/>
          <p:cNvSpPr txBox="1"/>
          <p:nvPr/>
        </p:nvSpPr>
        <p:spPr>
          <a:xfrm>
            <a:off x="911224" y="6264656"/>
            <a:ext cx="8766176"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link</a:t>
            </a:r>
            <a:r>
              <a:rPr sz="1800" spc="-10" dirty="0">
                <a:latin typeface="Arial MT"/>
                <a:cs typeface="Arial MT"/>
              </a:rPr>
              <a:t> </a:t>
            </a:r>
            <a:r>
              <a:rPr sz="1800" dirty="0">
                <a:latin typeface="Arial MT"/>
                <a:cs typeface="Arial MT"/>
              </a:rPr>
              <a:t>of</a:t>
            </a:r>
            <a:r>
              <a:rPr sz="1800" spc="-10" dirty="0">
                <a:latin typeface="Arial MT"/>
                <a:cs typeface="Arial MT"/>
              </a:rPr>
              <a:t> </a:t>
            </a:r>
            <a:r>
              <a:rPr sz="1800" dirty="0">
                <a:latin typeface="Arial MT"/>
                <a:cs typeface="Arial MT"/>
              </a:rPr>
              <a:t>the</a:t>
            </a:r>
            <a:r>
              <a:rPr sz="1800" spc="-10" dirty="0">
                <a:latin typeface="Arial MT"/>
                <a:cs typeface="Arial MT"/>
              </a:rPr>
              <a:t> GitHub</a:t>
            </a:r>
            <a:r>
              <a:rPr lang="en-US" sz="1800" spc="-10" dirty="0">
                <a:latin typeface="Arial MT"/>
                <a:cs typeface="Arial MT"/>
              </a:rPr>
              <a:t>: </a:t>
            </a:r>
            <a:r>
              <a:rPr lang="en-US" sz="1800" spc="-10" dirty="0">
                <a:solidFill>
                  <a:schemeClr val="tx1"/>
                </a:solidFill>
                <a:latin typeface="Arial MT"/>
                <a:cs typeface="Arial MT"/>
                <a:hlinkClick r:id="rId4">
                  <a:extLst>
                    <a:ext uri="{A12FA001-AC4F-418D-AE19-62706E023703}">
                      <ahyp:hlinkClr xmlns:ahyp="http://schemas.microsoft.com/office/drawing/2018/hyperlinkcolor" val="tx"/>
                    </a:ext>
                  </a:extLst>
                </a:hlinkClick>
              </a:rPr>
              <a:t>https://github.com/Harsha9866/CSE_2022-2026_BATCH_A23</a:t>
            </a:r>
            <a:endParaRPr sz="1800" dirty="0">
              <a:solidFill>
                <a:schemeClr val="tx1"/>
              </a:solidFill>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5181600" y="-18339"/>
            <a:ext cx="2345720" cy="251384"/>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Automated code review Bot</a:t>
            </a:r>
            <a:endParaRPr sz="1500" dirty="0">
              <a:latin typeface="Times New Roman"/>
              <a:cs typeface="Times New Roman"/>
            </a:endParaRPr>
          </a:p>
        </p:txBody>
      </p:sp>
      <p:sp>
        <p:nvSpPr>
          <p:cNvPr id="5" name="object 5"/>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23</a:t>
            </a:r>
            <a:endParaRPr spc="-25" dirty="0"/>
          </a:p>
        </p:txBody>
      </p:sp>
      <p:sp>
        <p:nvSpPr>
          <p:cNvPr id="6" name="object 6"/>
          <p:cNvSpPr txBox="1">
            <a:spLocks noGrp="1"/>
          </p:cNvSpPr>
          <p:nvPr>
            <p:ph type="dt" sz="half" idx="6"/>
          </p:nvPr>
        </p:nvSpPr>
        <p:spPr>
          <a:xfrm>
            <a:off x="1773948" y="6629198"/>
            <a:ext cx="3712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p:cNvSpPr txBox="1"/>
          <p:nvPr/>
        </p:nvSpPr>
        <p:spPr>
          <a:xfrm>
            <a:off x="7147541" y="6629197"/>
            <a:ext cx="39776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4" name="object 4"/>
          <p:cNvSpPr txBox="1">
            <a:spLocks noGrp="1"/>
          </p:cNvSpPr>
          <p:nvPr>
            <p:ph type="title"/>
          </p:nvPr>
        </p:nvSpPr>
        <p:spPr>
          <a:xfrm>
            <a:off x="2705705" y="235227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177</TotalTime>
  <Words>997</Words>
  <Application>Microsoft Office PowerPoint</Application>
  <PresentationFormat>Widescreen</PresentationFormat>
  <Paragraphs>107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 MT</vt:lpstr>
      <vt:lpstr>Lucida Sans Unicode</vt:lpstr>
      <vt:lpstr>Times New Roman</vt:lpstr>
      <vt:lpstr>Wingdings</vt:lpstr>
      <vt:lpstr>Office Theme</vt:lpstr>
      <vt:lpstr>AUTOMATED CODE REVIEW BOT</vt:lpstr>
      <vt:lpstr>Contents</vt:lpstr>
      <vt:lpstr>Title Justification</vt:lpstr>
      <vt:lpstr>Abstract</vt:lpstr>
      <vt:lpstr>Problem Statement</vt:lpstr>
      <vt:lpstr>Objectives of Project</vt:lpstr>
      <vt:lpstr>PowerPoint Presentation</vt:lpstr>
      <vt:lpstr>Proposed System</vt:lpstr>
      <vt:lpstr>References</vt:lpstr>
      <vt:lpstr>Git Hub Dashboards of each student</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Harshavardhan Reddy N</dc:creator>
  <cp:lastModifiedBy>Harshavardhan Reddy N</cp:lastModifiedBy>
  <cp:revision>12</cp:revision>
  <dcterms:created xsi:type="dcterms:W3CDTF">2025-12-04T07:04:46Z</dcterms:created>
  <dcterms:modified xsi:type="dcterms:W3CDTF">2025-12-06T06:07:57Z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2025-12-04T00:00:00Z</vt:filetime>
  </property>
  <property fmtid="{D5CDD505-2E9C-101B-9397-08002B2CF9AE}" pid="3" name="Creator">
    <vt:lpwstr>Google</vt:lpwstr>
  </property>
  <property fmtid="{D5CDD505-2E9C-101B-9397-08002B2CF9AE}" pid="4" name="LastSaved">
    <vt:filetime>2025-12-04T00:00:00Z</vt:filetime>
  </property>
</Properties>
</file>